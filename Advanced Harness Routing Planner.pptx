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71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C123-1426-2523-C8D2-05761189F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A815D9-A4F4-60F0-4E54-BA62AFB2D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DBE9F-BA1A-A108-B355-0EA4A4B16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40E6-462E-42F3-B69B-EF7F8DDB936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28387-ED2D-9A3A-1B7C-A8D250EC2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A7DF6-439F-346D-A521-76D9907A1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C5F2-BD56-4D14-BEDB-1504D4E5D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523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2CA5A-522A-887C-6C10-BB346B1E7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501DA-16D9-F406-CCE3-0B4B8B4B3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A3D02-4B58-002F-065E-C147CC2FF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40E6-462E-42F3-B69B-EF7F8DDB936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E3829-ECFF-0C1D-AEBD-5AD4B1A53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DB48B-6A3D-1D89-7C8A-9F281AAB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C5F2-BD56-4D14-BEDB-1504D4E5D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131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924ED-AC14-F907-F5BE-7CD459433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B4419-7839-8C80-3A91-B685125C3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0F13F-140B-952C-5506-1D75F7A4D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40E6-462E-42F3-B69B-EF7F8DDB936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79E34-0CD1-BA47-2A6A-ADC91F469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4AD14-976A-6B00-72D3-F38629032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C5F2-BD56-4D14-BEDB-1504D4E5D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739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3C772-5BCF-0DC7-D7FC-B14708847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B1DE2-535A-5336-31C5-3754C0B27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3C8F6-3384-2B51-65C5-87C4942DB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1FBA2-6CEA-E5FC-814B-F7527690A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40E6-462E-42F3-B69B-EF7F8DDB936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18C37-73AC-BB64-576E-C3BD90AEB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0F1A5-0971-8D27-EEB0-DE86EDF83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C5F2-BD56-4D14-BEDB-1504D4E5D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70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A46AC-CC03-CCB7-4499-780D879C0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4E14B-0DDF-E34D-0EAB-9D299DC80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40425-6429-BE5C-8D38-3752ED1742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10B50A-4D51-1C80-6337-43951354D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BCCD73-5D92-1B9B-FD3E-1FA7A088CB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EC6FB3-5D00-7EEC-D296-B2ED430B4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40E6-462E-42F3-B69B-EF7F8DDB936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616B39-3B54-2D26-5436-55CD307FD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928CA4-A4F4-B595-413A-B96C6136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C5F2-BD56-4D14-BEDB-1504D4E5D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576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14FF9-59BF-2FA8-F397-17F36C09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2158CC-3B54-EE68-B3B6-E236ED44C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40E6-462E-42F3-B69B-EF7F8DDB936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C2998-3DDD-BC90-D501-40FD11F90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A1617-E277-BC0A-01C7-BB60D8D2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C5F2-BD56-4D14-BEDB-1504D4E5D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332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0DEF36-D186-AC02-B18C-EF7B05A0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40E6-462E-42F3-B69B-EF7F8DDB936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9F33C9-E038-C1C7-D1FB-DB37BA00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DA435-215D-3488-2FD7-3B3EA5422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C5F2-BD56-4D14-BEDB-1504D4E5D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58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16F09-80B6-EDF9-C630-A4B811B6C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F48C8-0869-8E26-F09B-85305AD9B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86224-D6CE-9AF3-4D34-98BC74A22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A2BE3-04E5-D09A-2DA0-7D0C54834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40E6-462E-42F3-B69B-EF7F8DDB936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0A58C-3206-A56C-A603-9E1E88E56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4730C-057A-D94C-1573-9079511F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C5F2-BD56-4D14-BEDB-1504D4E5D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111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554AE-C15D-421C-EAFD-4CD5CDCB3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6823D-02A2-F0B8-9577-E6FAEAD316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545F5-F8E9-3200-A75A-417A2912C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C9712-1FF7-CF62-0ECF-6BA6C3E4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40E6-462E-42F3-B69B-EF7F8DDB936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848CB-68C7-8CBB-14B4-CA860F99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3DFEF-4041-E413-6ADB-5CF0BA055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C5F2-BD56-4D14-BEDB-1504D4E5D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644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964EB-2075-D12C-0069-5AC34D30D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86A227-F79D-7F54-EC8F-04D2E6D41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F5EB0-A75D-F162-44D1-85B89AE6B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40E6-462E-42F3-B69B-EF7F8DDB936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36506-67D6-52E1-F5AA-2DBFDD607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CD015-8554-71CB-1E7E-561C1170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C5F2-BD56-4D14-BEDB-1504D4E5D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50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9DDA5C-5DE7-7312-D9F2-9305CF6533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8FE722-0CDC-97B2-4485-CB9EEB1BC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2DEAA-FC08-FDE3-A00E-1A19895B2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40E6-462E-42F3-B69B-EF7F8DDB936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CBE69-C9F6-6E5F-B67F-B70811549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FB27F-C30B-98A6-F079-734F38C63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0C5F2-BD56-4D14-BEDB-1504D4E5D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23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643FE1-7FF0-2928-393E-D21A54F27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2D193-6BFE-EF38-8D74-95E02406D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D2BFC-095B-D488-2F39-928448ADAC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C40E6-462E-42F3-B69B-EF7F8DDB936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D2494-A84C-A312-B5C6-E3FFA3CCF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4A293-9542-8652-55FE-2495A9B77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0C5F2-BD56-4D14-BEDB-1504D4E5D6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449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freecad.org/Part_scripting" TargetMode="External"/><Relationship Id="rId2" Type="http://schemas.openxmlformats.org/officeDocument/2006/relationships/hyperlink" Target="https://github.com/SAPTRAY5/Advanced_Harness_Routing_Planne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monstrations.wolfram.com/RapidlyExploringRandomTreeRRTAndRRT/" TargetMode="External"/><Relationship Id="rId4" Type="http://schemas.openxmlformats.org/officeDocument/2006/relationships/hyperlink" Target="https://www.geeksforgeeks.org/computer-graphics/b-spline-curve-in-computer-graphic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4BEEE-8EAD-9923-585B-E97EE121F7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Advanced Harness Routing Planner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97B921-A131-8591-0AA9-4434CB01AF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SAPTARSI ROY</a:t>
            </a:r>
          </a:p>
        </p:txBody>
      </p:sp>
    </p:spTree>
    <p:extLst>
      <p:ext uri="{BB962C8B-B14F-4D97-AF65-F5344CB8AC3E}">
        <p14:creationId xmlns:p14="http://schemas.microsoft.com/office/powerpoint/2010/main" val="661390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A069E-C8E2-2992-5BA9-7B871D9FD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91C81-BBBE-0AFA-F92C-B2F3B4A65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 dirty="0"/>
              <a:t>Current Designer Workflow</a:t>
            </a:r>
          </a:p>
          <a:p>
            <a:r>
              <a:rPr lang="en-IN" sz="1600" dirty="0"/>
              <a:t>Objective</a:t>
            </a:r>
          </a:p>
          <a:p>
            <a:r>
              <a:rPr lang="en-IN" sz="1600" dirty="0"/>
              <a:t>Concept</a:t>
            </a:r>
          </a:p>
          <a:p>
            <a:r>
              <a:rPr lang="en-IN" sz="1600" dirty="0"/>
              <a:t>Rapidly-exploring Random Tree</a:t>
            </a:r>
          </a:p>
          <a:p>
            <a:r>
              <a:rPr lang="en-US" sz="1600" dirty="0"/>
              <a:t>Algorithm Enhancements for Harness Routing</a:t>
            </a:r>
          </a:p>
          <a:p>
            <a:r>
              <a:rPr lang="en-IN" sz="1600" dirty="0"/>
              <a:t>Path Refinement</a:t>
            </a:r>
          </a:p>
          <a:p>
            <a:r>
              <a:rPr lang="en-IN" sz="1600" dirty="0"/>
              <a:t>Geometry Generation</a:t>
            </a:r>
          </a:p>
          <a:p>
            <a:r>
              <a:rPr lang="en-IN" sz="1600" dirty="0"/>
              <a:t>Sub-Branch Creation</a:t>
            </a:r>
          </a:p>
          <a:p>
            <a:r>
              <a:rPr lang="en-IN" sz="1600" dirty="0"/>
              <a:t>Designer Productivity Improvement (Tentative)</a:t>
            </a:r>
          </a:p>
          <a:p>
            <a:r>
              <a:rPr lang="en-US" sz="1600" dirty="0"/>
              <a:t>Capabilities Beyond Current CAD Tools</a:t>
            </a:r>
          </a:p>
          <a:p>
            <a:r>
              <a:rPr lang="en-IN" sz="1600" dirty="0"/>
              <a:t>Future Improvements/Work</a:t>
            </a:r>
          </a:p>
          <a:p>
            <a:r>
              <a:rPr lang="en-IN" sz="1600" dirty="0"/>
              <a:t>Links and References</a:t>
            </a:r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19963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5C9CD-4A60-CE83-8190-3C4AEA8F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0451"/>
          </a:xfrm>
        </p:spPr>
        <p:txBody>
          <a:bodyPr>
            <a:normAutofit/>
          </a:bodyPr>
          <a:lstStyle/>
          <a:p>
            <a:r>
              <a:rPr lang="en-IN" sz="3200" dirty="0"/>
              <a:t>Current Designer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403BC-5E19-249D-7B61-07B069268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Today, harness routing typically involves:</a:t>
            </a:r>
          </a:p>
          <a:p>
            <a:r>
              <a:rPr lang="en-US" sz="2000" dirty="0"/>
              <a:t>Identifying two connector endpoints</a:t>
            </a:r>
          </a:p>
          <a:p>
            <a:r>
              <a:rPr lang="en-US" sz="2000" dirty="0"/>
              <a:t>Studying surrounding aircraft structure</a:t>
            </a:r>
          </a:p>
          <a:p>
            <a:r>
              <a:rPr lang="en-US" sz="2000" dirty="0"/>
              <a:t>Manually sketching a potential branch route</a:t>
            </a:r>
          </a:p>
          <a:p>
            <a:r>
              <a:rPr lang="en-US" sz="2000" dirty="0"/>
              <a:t>Checking for interference</a:t>
            </a:r>
          </a:p>
          <a:p>
            <a:r>
              <a:rPr lang="en-US" sz="2000" dirty="0"/>
              <a:t>Iteratively adjusting the route</a:t>
            </a:r>
          </a:p>
          <a:p>
            <a:r>
              <a:rPr lang="en-US" sz="2000" dirty="0"/>
              <a:t>In congested aircraft regions, designers may repeat this process </a:t>
            </a:r>
            <a:r>
              <a:rPr lang="en-US" sz="2000" b="1" dirty="0"/>
              <a:t>multiple times</a:t>
            </a:r>
            <a:r>
              <a:rPr lang="en-US" sz="2000" dirty="0"/>
              <a:t> before </a:t>
            </a:r>
            <a:r>
              <a:rPr lang="en-US" sz="2000" dirty="0" err="1"/>
              <a:t>finalising</a:t>
            </a:r>
            <a:r>
              <a:rPr lang="en-US" sz="2000" dirty="0"/>
              <a:t> a feasible route.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79499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C4922-6364-B19F-58AE-48DF05008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4791"/>
          </a:xfrm>
        </p:spPr>
        <p:txBody>
          <a:bodyPr>
            <a:normAutofit/>
          </a:bodyPr>
          <a:lstStyle/>
          <a:p>
            <a:r>
              <a:rPr lang="en-IN" sz="3600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B0112-DFCD-B24A-76B2-16308C641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Provide designers with a </a:t>
            </a:r>
            <a:r>
              <a:rPr lang="en-US" sz="2000" b="1" dirty="0"/>
              <a:t>routing assistance tool</a:t>
            </a:r>
            <a:r>
              <a:rPr lang="en-US" sz="2000" dirty="0"/>
              <a:t> that:</a:t>
            </a:r>
          </a:p>
          <a:p>
            <a:r>
              <a:rPr lang="en-US" sz="2000" dirty="0"/>
              <a:t>• suggests collision-free routing candidates</a:t>
            </a:r>
            <a:br>
              <a:rPr lang="en-US" sz="2000" dirty="0"/>
            </a:br>
            <a:r>
              <a:rPr lang="en-US" sz="2000" dirty="0"/>
              <a:t>• accelerates early path exploration</a:t>
            </a:r>
            <a:br>
              <a:rPr lang="en-US" sz="2000" dirty="0"/>
            </a:br>
            <a:r>
              <a:rPr lang="en-US" sz="2000" dirty="0"/>
              <a:t>• allows designers to quickly evaluate routing feasibility</a:t>
            </a:r>
          </a:p>
          <a:p>
            <a:r>
              <a:rPr lang="en-US" sz="2000" dirty="0"/>
              <a:t>The designer </a:t>
            </a:r>
            <a:r>
              <a:rPr lang="en-US" sz="2000" b="1" dirty="0"/>
              <a:t>still decides the final routing strategy</a:t>
            </a:r>
            <a:r>
              <a:rPr lang="en-US" sz="2000" dirty="0"/>
              <a:t>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23642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7FB7A-1A71-0C2A-5A7A-6B72AA873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3472"/>
          </a:xfrm>
        </p:spPr>
        <p:txBody>
          <a:bodyPr>
            <a:normAutofit/>
          </a:bodyPr>
          <a:lstStyle/>
          <a:p>
            <a:r>
              <a:rPr lang="en-IN" sz="3600" dirty="0"/>
              <a:t>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5F0CB-AE74-85F6-7369-7D90343BF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Instead of manually testing routing paths, the system:</a:t>
            </a:r>
          </a:p>
          <a:p>
            <a:r>
              <a:rPr lang="en-US" sz="2000" dirty="0"/>
              <a:t>• analyses the surrounding environment</a:t>
            </a:r>
            <a:br>
              <a:rPr lang="en-US" sz="2000" dirty="0"/>
            </a:br>
            <a:r>
              <a:rPr lang="en-US" sz="2000" dirty="0"/>
              <a:t>• generates candidate paths between connectors</a:t>
            </a:r>
            <a:br>
              <a:rPr lang="en-US" sz="2000" dirty="0"/>
            </a:br>
            <a:r>
              <a:rPr lang="en-US" sz="2000" dirty="0"/>
              <a:t>• ensures obstacle avoidance</a:t>
            </a:r>
          </a:p>
          <a:p>
            <a:r>
              <a:rPr lang="en-US" sz="2000" dirty="0"/>
              <a:t>The designer can then </a:t>
            </a:r>
            <a:r>
              <a:rPr lang="en-US" sz="2000" b="1" dirty="0"/>
              <a:t>select, adjust, or refine the generated route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7985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B09A8-A604-A400-9DFF-22FB5FF6E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Rapidly-exploring Random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D8617-0010-B1C9-045D-3E97CB708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162"/>
            <a:ext cx="5316110" cy="3799523"/>
          </a:xfrm>
        </p:spPr>
        <p:txBody>
          <a:bodyPr>
            <a:normAutofit/>
          </a:bodyPr>
          <a:lstStyle/>
          <a:p>
            <a:r>
              <a:rPr lang="en-US" sz="2000" dirty="0"/>
              <a:t>The approach is inspired by the </a:t>
            </a:r>
            <a:r>
              <a:rPr lang="en-US" sz="2000" b="1" dirty="0"/>
              <a:t>Rapidly-exploring Random Tree (RRT)</a:t>
            </a:r>
            <a:r>
              <a:rPr lang="en-US" sz="2000" dirty="0"/>
              <a:t> algorithm.</a:t>
            </a:r>
          </a:p>
          <a:p>
            <a:r>
              <a:rPr lang="en-US" sz="2000" dirty="0"/>
              <a:t>RRT efficiently explores complex spaces to discover feasible paths while avoiding obstacles.</a:t>
            </a:r>
          </a:p>
          <a:p>
            <a:r>
              <a:rPr lang="en-US" sz="2000" dirty="0"/>
              <a:t>This concept is widely used in robotics and autonomous navigation.</a:t>
            </a:r>
          </a:p>
          <a:p>
            <a:endParaRPr lang="en-IN" sz="2000" dirty="0"/>
          </a:p>
        </p:txBody>
      </p:sp>
      <p:pic>
        <p:nvPicPr>
          <p:cNvPr id="3074" name="Picture 2" descr="An improved artificial potential field with RRT star algorithm for  autonomous vehicle path planning | Scientific Reports">
            <a:extLst>
              <a:ext uri="{FF2B5EF4-FFF2-40B4-BE49-F238E27FC236}">
                <a16:creationId xmlns:a16="http://schemas.microsoft.com/office/drawing/2014/main" id="{3EE3EE5C-D373-4FD2-E8ED-1F43DA969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582" y="3830292"/>
            <a:ext cx="6524625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150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CBA38-F05E-A737-3020-4B57C32DE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93331"/>
          </a:xfrm>
        </p:spPr>
        <p:txBody>
          <a:bodyPr>
            <a:normAutofit/>
          </a:bodyPr>
          <a:lstStyle/>
          <a:p>
            <a:r>
              <a:rPr lang="en-US" sz="3200" dirty="0"/>
              <a:t>Algorithm Enhancements for Harness Routing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313B1-7C89-7729-F27E-E327693E3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670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The standard RRT approach was adapted for harness design by introducing:</a:t>
            </a:r>
          </a:p>
          <a:p>
            <a:r>
              <a:rPr lang="en-US" sz="2000" b="1" dirty="0"/>
              <a:t>Directional Bias</a:t>
            </a:r>
            <a:endParaRPr lang="en-US" sz="2000" dirty="0"/>
          </a:p>
          <a:p>
            <a:r>
              <a:rPr lang="en-US" sz="2000" dirty="0"/>
              <a:t>Random exploration is biased toward the vector connecting the two connector endpoints.</a:t>
            </a:r>
          </a:p>
          <a:p>
            <a:r>
              <a:rPr lang="en-US" sz="2000" dirty="0"/>
              <a:t>Benefits:</a:t>
            </a:r>
          </a:p>
          <a:p>
            <a:r>
              <a:rPr lang="en-US" sz="2000" dirty="0"/>
              <a:t>• reduces unnecessary exploration</a:t>
            </a:r>
            <a:br>
              <a:rPr lang="en-US" sz="2000" dirty="0"/>
            </a:br>
            <a:r>
              <a:rPr lang="en-US" sz="2000" dirty="0"/>
              <a:t>• produces routing paths closer to real harness </a:t>
            </a:r>
            <a:r>
              <a:rPr lang="en-US" sz="2000" dirty="0" err="1"/>
              <a:t>behaviour</a:t>
            </a:r>
            <a:br>
              <a:rPr lang="en-US" sz="2000" dirty="0"/>
            </a:br>
            <a:r>
              <a:rPr lang="en-US" sz="2000" dirty="0"/>
              <a:t>• improves convergence speed</a:t>
            </a:r>
          </a:p>
        </p:txBody>
      </p:sp>
    </p:spTree>
    <p:extLst>
      <p:ext uri="{BB962C8B-B14F-4D97-AF65-F5344CB8AC3E}">
        <p14:creationId xmlns:p14="http://schemas.microsoft.com/office/powerpoint/2010/main" val="441833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38046-9CF1-CA91-E45B-6D0ADEB54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9759"/>
          </a:xfrm>
        </p:spPr>
        <p:txBody>
          <a:bodyPr>
            <a:normAutofit/>
          </a:bodyPr>
          <a:lstStyle/>
          <a:p>
            <a:r>
              <a:rPr lang="en-IN" sz="2800" dirty="0"/>
              <a:t>Path Refinement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1ADEF-F9E5-4723-E9F7-596EEDC02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74" y="1164884"/>
            <a:ext cx="10515600" cy="1507011"/>
          </a:xfrm>
        </p:spPr>
        <p:txBody>
          <a:bodyPr>
            <a:normAutofit/>
          </a:bodyPr>
          <a:lstStyle/>
          <a:p>
            <a:r>
              <a:rPr lang="en-US" sz="1400" dirty="0"/>
              <a:t>After the initial path is generated, the algorithm performs:</a:t>
            </a:r>
          </a:p>
          <a:p>
            <a:r>
              <a:rPr lang="en-US" sz="1400" dirty="0"/>
              <a:t>• node reduction</a:t>
            </a:r>
            <a:br>
              <a:rPr lang="en-US" sz="1400" dirty="0"/>
            </a:br>
            <a:r>
              <a:rPr lang="en-US" sz="1400" dirty="0"/>
              <a:t>• shortcut </a:t>
            </a:r>
            <a:r>
              <a:rPr lang="en-US" sz="1400" dirty="0" err="1"/>
              <a:t>optimisation</a:t>
            </a:r>
            <a:br>
              <a:rPr lang="en-US" sz="1400" dirty="0"/>
            </a:br>
            <a:r>
              <a:rPr lang="en-US" sz="1400" dirty="0"/>
              <a:t>• spline smoothing</a:t>
            </a:r>
          </a:p>
          <a:p>
            <a:r>
              <a:rPr lang="en-US" sz="1400" dirty="0"/>
              <a:t>The resulting route becomes suitable for harness modelling.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09088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DB3705-17D1-666C-5F37-ED9A56D90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20" y="3244645"/>
            <a:ext cx="5279880" cy="31256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024869-93CF-D68C-7A7A-B40547D0E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327" y="3244645"/>
            <a:ext cx="3744470" cy="31256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30A451-B799-4C4E-1D9F-C4E5E2354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033" y="175852"/>
            <a:ext cx="9839764" cy="25378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B26B77-BE94-EF30-A926-C11BB5716FD0}"/>
              </a:ext>
            </a:extLst>
          </p:cNvPr>
          <p:cNvSpPr txBox="1"/>
          <p:nvPr/>
        </p:nvSpPr>
        <p:spPr>
          <a:xfrm>
            <a:off x="816120" y="2794508"/>
            <a:ext cx="441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1: Just the connectors and standard paths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DFB297-28F7-2876-0F8D-7AAB12D9C31B}"/>
              </a:ext>
            </a:extLst>
          </p:cNvPr>
          <p:cNvSpPr txBox="1"/>
          <p:nvPr/>
        </p:nvSpPr>
        <p:spPr>
          <a:xfrm>
            <a:off x="816120" y="6451112"/>
            <a:ext cx="52447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Fig 2: Path generated by RRT, Biasing, Smoothening, Cleaning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020B3B-6C06-5582-FA9E-7FE8E5286D39}"/>
              </a:ext>
            </a:extLst>
          </p:cNvPr>
          <p:cNvSpPr txBox="1"/>
          <p:nvPr/>
        </p:nvSpPr>
        <p:spPr>
          <a:xfrm>
            <a:off x="6943327" y="6451771"/>
            <a:ext cx="42254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Fig 3: B-Spline generating after cleaning the path</a:t>
            </a:r>
          </a:p>
        </p:txBody>
      </p:sp>
    </p:spTree>
    <p:extLst>
      <p:ext uri="{BB962C8B-B14F-4D97-AF65-F5344CB8AC3E}">
        <p14:creationId xmlns:p14="http://schemas.microsoft.com/office/powerpoint/2010/main" val="3503292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51443-433A-9ECF-CCB3-0FD6E0162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4305"/>
          </a:xfrm>
        </p:spPr>
        <p:txBody>
          <a:bodyPr>
            <a:normAutofit/>
          </a:bodyPr>
          <a:lstStyle/>
          <a:p>
            <a:r>
              <a:rPr lang="en-IN" sz="3200" dirty="0"/>
              <a:t>Geometry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A4EF8-8912-10FD-88BC-6B45DFB26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6551"/>
            <a:ext cx="10515600" cy="1184744"/>
          </a:xfrm>
        </p:spPr>
        <p:txBody>
          <a:bodyPr>
            <a:normAutofit/>
          </a:bodyPr>
          <a:lstStyle/>
          <a:p>
            <a:r>
              <a:rPr lang="en-US" sz="1800" dirty="0"/>
              <a:t>The refined path is converted into a smooth curve using **B-spline interpolation.</a:t>
            </a:r>
          </a:p>
          <a:p>
            <a:r>
              <a:rPr lang="en-US" sz="1800" dirty="0"/>
              <a:t>The spline is then used to generate the harness branch geometry.</a:t>
            </a:r>
          </a:p>
          <a:p>
            <a:r>
              <a:rPr lang="en-US" sz="1800" dirty="0"/>
              <a:t>This produces a </a:t>
            </a:r>
            <a:r>
              <a:rPr lang="en-US" sz="1800" b="1" dirty="0"/>
              <a:t>visual and manufacturable harness representation</a:t>
            </a:r>
            <a:r>
              <a:rPr lang="en-US" sz="1800" dirty="0"/>
              <a:t>.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924B09-3E27-C396-59E2-CD057DADC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79315"/>
            <a:ext cx="4233670" cy="41547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4A8C97-C156-3034-6271-673B48718CAB}"/>
              </a:ext>
            </a:extLst>
          </p:cNvPr>
          <p:cNvSpPr txBox="1"/>
          <p:nvPr/>
        </p:nvSpPr>
        <p:spPr>
          <a:xfrm>
            <a:off x="5427406" y="5968181"/>
            <a:ext cx="3731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4: Branch generation on the spline</a:t>
            </a:r>
          </a:p>
        </p:txBody>
      </p:sp>
    </p:spTree>
    <p:extLst>
      <p:ext uri="{BB962C8B-B14F-4D97-AF65-F5344CB8AC3E}">
        <p14:creationId xmlns:p14="http://schemas.microsoft.com/office/powerpoint/2010/main" val="734741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9879-DFB4-BFC3-6288-DACCF17E8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1181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Sub-Branch Creation</a:t>
            </a:r>
            <a:br>
              <a:rPr lang="en-IN" sz="3200" dirty="0"/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236BF-2645-BA6C-49F3-28748479A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6306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The system also enables designers to:</a:t>
            </a:r>
          </a:p>
          <a:p>
            <a:r>
              <a:rPr lang="en-US" sz="2000" dirty="0"/>
              <a:t>• select a point along an existing harness branch</a:t>
            </a:r>
            <a:br>
              <a:rPr lang="en-US" sz="2000" dirty="0"/>
            </a:br>
            <a:r>
              <a:rPr lang="en-US" sz="2000" dirty="0"/>
              <a:t>• connect a new connector in that region</a:t>
            </a:r>
            <a:br>
              <a:rPr lang="en-US" sz="2000" dirty="0"/>
            </a:br>
            <a:r>
              <a:rPr lang="en-US" sz="2000" dirty="0"/>
              <a:t>• generate a secondary branch automatically</a:t>
            </a:r>
          </a:p>
          <a:p>
            <a:r>
              <a:rPr lang="en-US" sz="2000" dirty="0"/>
              <a:t>This supports the modelling of </a:t>
            </a:r>
            <a:r>
              <a:rPr lang="en-US" sz="2000" b="1" dirty="0"/>
              <a:t>complex harness tree structures</a:t>
            </a:r>
            <a:r>
              <a:rPr lang="en-US" sz="20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5BDDA9-44BF-9F1F-85E9-6C92B1760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403" y="3220741"/>
            <a:ext cx="4035921" cy="32721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15A055-5E1B-0D9C-7F92-CC3E85C4C829}"/>
              </a:ext>
            </a:extLst>
          </p:cNvPr>
          <p:cNvSpPr txBox="1"/>
          <p:nvPr/>
        </p:nvSpPr>
        <p:spPr>
          <a:xfrm>
            <a:off x="5604387" y="6027174"/>
            <a:ext cx="4491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5: Sub Branches created from main branch</a:t>
            </a:r>
          </a:p>
        </p:txBody>
      </p:sp>
    </p:spTree>
    <p:extLst>
      <p:ext uri="{BB962C8B-B14F-4D97-AF65-F5344CB8AC3E}">
        <p14:creationId xmlns:p14="http://schemas.microsoft.com/office/powerpoint/2010/main" val="2155539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1D45E-45E2-74F0-9233-82AA77F16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8645"/>
          </a:xfrm>
        </p:spPr>
        <p:txBody>
          <a:bodyPr>
            <a:normAutofit/>
          </a:bodyPr>
          <a:lstStyle/>
          <a:p>
            <a:r>
              <a:rPr lang="en-IN" sz="3200" dirty="0"/>
              <a:t>Designer Productivity Improvement (Tentative)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BCC0A3-8CDF-5FB0-104F-619D63C97552}"/>
              </a:ext>
            </a:extLst>
          </p:cNvPr>
          <p:cNvSpPr txBox="1"/>
          <p:nvPr/>
        </p:nvSpPr>
        <p:spPr>
          <a:xfrm>
            <a:off x="838199" y="1614113"/>
            <a:ext cx="753452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This Algorithm aims at </a:t>
            </a:r>
            <a:r>
              <a:rPr lang="en-US" sz="1600" b="1" dirty="0"/>
              <a:t>reducing</a:t>
            </a:r>
            <a:r>
              <a:rPr lang="en-US" sz="1600" dirty="0"/>
              <a:t> the time spent exploring routing possibilities.</a:t>
            </a:r>
          </a:p>
          <a:p>
            <a:endParaRPr lang="en-US" sz="1600" dirty="0"/>
          </a:p>
          <a:p>
            <a:r>
              <a:rPr lang="en-IN" sz="1600" dirty="0"/>
              <a:t>Estimated productivity impact: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2DBF8F8-2E68-6C3B-13C1-F112CB85FA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357870"/>
              </p:ext>
            </p:extLst>
          </p:nvPr>
        </p:nvGraphicFramePr>
        <p:xfrm>
          <a:off x="838199" y="2746230"/>
          <a:ext cx="10515600" cy="13411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1870723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145095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Design 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Improvement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611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Initial routing exploration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40–60% 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829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Identifying obstacle-free paths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50–70% 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321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Early feasibility checks (DMU)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60% 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96461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F5E8A19-D158-1B01-D2C8-FD76D046454A}"/>
              </a:ext>
            </a:extLst>
          </p:cNvPr>
          <p:cNvSpPr txBox="1"/>
          <p:nvPr/>
        </p:nvSpPr>
        <p:spPr>
          <a:xfrm>
            <a:off x="838199" y="4628036"/>
            <a:ext cx="84330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Overall estimated improvement in routing preparation stage:</a:t>
            </a:r>
          </a:p>
          <a:p>
            <a:r>
              <a:rPr lang="en-US" sz="1600" b="1" dirty="0"/>
              <a:t>~30–40% reduction in exploration time</a:t>
            </a:r>
            <a:endParaRPr lang="en-US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7937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15B08-00A4-1925-AF0A-34F2365C4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0938"/>
          </a:xfrm>
        </p:spPr>
        <p:txBody>
          <a:bodyPr>
            <a:normAutofit/>
          </a:bodyPr>
          <a:lstStyle/>
          <a:p>
            <a:r>
              <a:rPr lang="en-US" sz="3200" dirty="0"/>
              <a:t>Capabilities Beyond Current CAD Tools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23E5-2C35-53B2-4BBD-17A659226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6550"/>
            <a:ext cx="10515600" cy="4960413"/>
          </a:xfrm>
        </p:spPr>
        <p:txBody>
          <a:bodyPr>
            <a:normAutofit/>
          </a:bodyPr>
          <a:lstStyle/>
          <a:p>
            <a:r>
              <a:rPr lang="en-US" sz="2000" dirty="0"/>
              <a:t>Current capabilities in CATIA V5 focus primarily on manual modelling and clash detection.</a:t>
            </a:r>
          </a:p>
          <a:p>
            <a:r>
              <a:rPr lang="en-US" sz="2000" dirty="0"/>
              <a:t>The proposed approach adds:</a:t>
            </a:r>
          </a:p>
          <a:p>
            <a:r>
              <a:rPr lang="en-US" sz="2000" dirty="0"/>
              <a:t>• automated path exploration</a:t>
            </a:r>
            <a:br>
              <a:rPr lang="en-US" sz="2000" dirty="0"/>
            </a:br>
            <a:r>
              <a:rPr lang="en-US" sz="2000" dirty="0"/>
              <a:t>• obstacle-aware route suggestion</a:t>
            </a:r>
            <a:br>
              <a:rPr lang="en-US" sz="2000" dirty="0"/>
            </a:br>
            <a:r>
              <a:rPr lang="en-US" sz="2000" dirty="0"/>
              <a:t>• rapid routing feasibility checks</a:t>
            </a:r>
          </a:p>
          <a:p>
            <a:r>
              <a:rPr lang="en-US" sz="2000" dirty="0"/>
              <a:t>These capabilities complement existing CAD tools rather than replacing them.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70065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74927-1E9F-7833-EF6C-2BF102EF7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Future Improvements/Work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6ED30-3A86-6B97-0892-4B9A56043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sz="2000" dirty="0"/>
              <a:t>Improve computation time for even more complex aircraft assemblies.</a:t>
            </a:r>
          </a:p>
          <a:p>
            <a:r>
              <a:rPr lang="en-US" sz="2000" dirty="0"/>
              <a:t>Improve trimming of unnecessary path slack.</a:t>
            </a:r>
          </a:p>
          <a:p>
            <a:r>
              <a:rPr lang="en-US" sz="2000" dirty="0"/>
              <a:t>Create a robust global slack function. (Currently an approximate slack value has been used)</a:t>
            </a:r>
          </a:p>
          <a:p>
            <a:r>
              <a:rPr lang="en-US" sz="2000" dirty="0"/>
              <a:t>Machine Learning Layer for improved biasing and correction.</a:t>
            </a:r>
          </a:p>
          <a:p>
            <a:r>
              <a:rPr lang="en-US" sz="2000" dirty="0"/>
              <a:t>Implement it all in CATIA v5/3D experience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36951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FA1C4-6942-951F-5CA7-7372422B7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2256"/>
          </a:xfrm>
        </p:spPr>
        <p:txBody>
          <a:bodyPr>
            <a:normAutofit/>
          </a:bodyPr>
          <a:lstStyle/>
          <a:p>
            <a:r>
              <a:rPr lang="en-IN" sz="3600" dirty="0"/>
              <a:t>Links and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73D93-8999-02EE-F0DF-81F4711F0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991"/>
            <a:ext cx="10515600" cy="4705972"/>
          </a:xfrm>
        </p:spPr>
        <p:txBody>
          <a:bodyPr>
            <a:normAutofit/>
          </a:bodyPr>
          <a:lstStyle/>
          <a:p>
            <a:r>
              <a:rPr lang="en-IN" sz="2000" dirty="0" err="1"/>
              <a:t>Github</a:t>
            </a:r>
            <a:r>
              <a:rPr lang="en-IN" sz="2000" dirty="0"/>
              <a:t> Link: </a:t>
            </a:r>
            <a:r>
              <a:rPr lang="en-IN" sz="2000" dirty="0">
                <a:hlinkClick r:id="rId2"/>
              </a:rPr>
              <a:t>https://github.com/SAPTRAY5/Advanced_Harness_Routing_Planner</a:t>
            </a: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References: </a:t>
            </a:r>
          </a:p>
          <a:p>
            <a:r>
              <a:rPr lang="en-IN" sz="2000" dirty="0">
                <a:hlinkClick r:id="rId3"/>
              </a:rPr>
              <a:t>https://wiki.freecad.org/Part_scripting</a:t>
            </a:r>
            <a:endParaRPr lang="en-IN" sz="2000" dirty="0"/>
          </a:p>
          <a:p>
            <a:r>
              <a:rPr lang="en-IN" sz="2000" dirty="0">
                <a:hlinkClick r:id="rId4"/>
              </a:rPr>
              <a:t>https://www.geeksforgeeks.org/computer-graphics/b-spline-curve-in-computer-graphics/</a:t>
            </a:r>
            <a:endParaRPr lang="en-IN" sz="2000" dirty="0"/>
          </a:p>
          <a:p>
            <a:r>
              <a:rPr lang="en-IN" sz="2000" dirty="0">
                <a:hlinkClick r:id="rId5"/>
              </a:rPr>
              <a:t>https://demonstrations.wolfram.com/RapidlyExploringRandomTreeRRTAndRRT/</a:t>
            </a: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96507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655</Words>
  <Application>Microsoft Office PowerPoint</Application>
  <PresentationFormat>Widescreen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Advanced Harness Routing Planner</vt:lpstr>
      <vt:lpstr>Table of Contents</vt:lpstr>
      <vt:lpstr>Current Designer Workflow</vt:lpstr>
      <vt:lpstr>Objective</vt:lpstr>
      <vt:lpstr>Concept</vt:lpstr>
      <vt:lpstr>Rapidly-exploring Random Tree</vt:lpstr>
      <vt:lpstr>Algorithm Enhancements for Harness Routing</vt:lpstr>
      <vt:lpstr>Path Refinement</vt:lpstr>
      <vt:lpstr>PowerPoint Presentation</vt:lpstr>
      <vt:lpstr>Geometry Generation</vt:lpstr>
      <vt:lpstr>Sub-Branch Creation </vt:lpstr>
      <vt:lpstr>Designer Productivity Improvement (Tentative)</vt:lpstr>
      <vt:lpstr>Capabilities Beyond Current CAD Tools</vt:lpstr>
      <vt:lpstr>Future Improvements/Work</vt:lpstr>
      <vt:lpstr>Links and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SAPTARSI ROY</dc:creator>
  <cp:lastModifiedBy>SAPTARSI ROY</cp:lastModifiedBy>
  <cp:revision>10</cp:revision>
  <dcterms:created xsi:type="dcterms:W3CDTF">2026-03-09T06:18:34Z</dcterms:created>
  <dcterms:modified xsi:type="dcterms:W3CDTF">2026-03-09T07:17:45Z</dcterms:modified>
</cp:coreProperties>
</file>